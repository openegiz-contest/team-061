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fa5e0c6ea4449d" /><Relationship Type="http://schemas.openxmlformats.org/officeDocument/2006/relationships/extended-properties" Target="/docProps/app.xml" Id="Rf1775f7a57ec411a" /><Relationship Type="http://schemas.openxmlformats.org/officeDocument/2006/relationships/officeDocument" Target="/ppt/presentation.xml" Id="R006c521ae10a4f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910d9714914d0e"/>
  </p:sldMasterIdLst>
  <p:notesMasterIdLst>
    <p:notesMasterId xmlns:r="http://schemas.openxmlformats.org/officeDocument/2006/relationships" r:id="R94d3cd1dff4743b7"/>
  </p:notesMasterIdLst>
  <p:sldIdLst>
    <p:sldId xmlns:r="http://schemas.openxmlformats.org/officeDocument/2006/relationships" id="256" r:id="R144adaee83034d43"/>
    <p:sldId xmlns:r="http://schemas.openxmlformats.org/officeDocument/2006/relationships" id="257" r:id="R0f3ad3e59bb641b3"/>
    <p:sldId xmlns:r="http://schemas.openxmlformats.org/officeDocument/2006/relationships" id="258" r:id="Rcb30f8e33fe34a29"/>
    <p:sldId xmlns:r="http://schemas.openxmlformats.org/officeDocument/2006/relationships" id="259" r:id="R66a9b1df134e4a29"/>
    <p:sldId xmlns:r="http://schemas.openxmlformats.org/officeDocument/2006/relationships" id="260" r:id="R90fb5128e1924c86"/>
    <p:sldId xmlns:r="http://schemas.openxmlformats.org/officeDocument/2006/relationships" id="261" r:id="R20a9f3f9194848b8"/>
    <p:sldId xmlns:r="http://schemas.openxmlformats.org/officeDocument/2006/relationships" id="262" r:id="R081ac0df35574047"/>
    <p:sldId xmlns:r="http://schemas.openxmlformats.org/officeDocument/2006/relationships" id="263" r:id="Rb087cf28321742cd"/>
    <p:sldId xmlns:r="http://schemas.openxmlformats.org/officeDocument/2006/relationships" id="264" r:id="Rdfcd62ac14a44218"/>
    <p:sldId xmlns:r="http://schemas.openxmlformats.org/officeDocument/2006/relationships" id="265" r:id="R6167912c1f844638"/>
    <p:sldId xmlns:r="http://schemas.openxmlformats.org/officeDocument/2006/relationships" id="266" r:id="R798b9f9674cc4a9c"/>
    <p:sldId xmlns:r="http://schemas.openxmlformats.org/officeDocument/2006/relationships" id="267" r:id="Rd8c04a3a8db1499e"/>
    <p:sldId xmlns:r="http://schemas.openxmlformats.org/officeDocument/2006/relationships" id="268" r:id="R50075c66a41e46dc"/>
    <p:sldId xmlns:r="http://schemas.openxmlformats.org/officeDocument/2006/relationships" id="269" r:id="R84a80c8cbcce4845"/>
    <p:sldId xmlns:r="http://schemas.openxmlformats.org/officeDocument/2006/relationships" id="270" r:id="Rb64a9e684cf44a30"/>
    <p:sldId xmlns:r="http://schemas.openxmlformats.org/officeDocument/2006/relationships" id="271" r:id="Re6bff497563b43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79d8f9ebdd4358" /><Relationship Type="http://schemas.openxmlformats.org/officeDocument/2006/relationships/slideMaster" Target="/ppt/slideMasters/slideMaster1.xml" Id="R89910d9714914d0e" /><Relationship Type="http://schemas.openxmlformats.org/officeDocument/2006/relationships/notesMaster" Target="/ppt/notesMasters/notesMaster1.xml" Id="R94d3cd1dff4743b7" /><Relationship Type="http://schemas.openxmlformats.org/officeDocument/2006/relationships/presProps" Target="/ppt/presProps.xml" Id="Rf17c3ac88c064d86" /><Relationship Type="http://schemas.openxmlformats.org/officeDocument/2006/relationships/tableStyles" Target="/ppt/tableStyles.xml" Id="Re6fc2cacf6504483" /><Relationship Type="http://schemas.openxmlformats.org/officeDocument/2006/relationships/slide" Target="/ppt/slides/slide1.xml" Id="R144adaee83034d43" /><Relationship Type="http://schemas.openxmlformats.org/officeDocument/2006/relationships/slide" Target="/ppt/slides/slide2.xml" Id="R0f3ad3e59bb641b3" /><Relationship Type="http://schemas.openxmlformats.org/officeDocument/2006/relationships/slide" Target="/ppt/slides/slide3.xml" Id="Rcb30f8e33fe34a29" /><Relationship Type="http://schemas.openxmlformats.org/officeDocument/2006/relationships/slide" Target="/ppt/slides/slide4.xml" Id="R66a9b1df134e4a29" /><Relationship Type="http://schemas.openxmlformats.org/officeDocument/2006/relationships/slide" Target="/ppt/slides/slide5.xml" Id="R90fb5128e1924c86" /><Relationship Type="http://schemas.openxmlformats.org/officeDocument/2006/relationships/slide" Target="/ppt/slides/slide6.xml" Id="R20a9f3f9194848b8" /><Relationship Type="http://schemas.openxmlformats.org/officeDocument/2006/relationships/slide" Target="/ppt/slides/slide7.xml" Id="R081ac0df35574047" /><Relationship Type="http://schemas.openxmlformats.org/officeDocument/2006/relationships/slide" Target="/ppt/slides/slide8.xml" Id="Rb087cf28321742cd" /><Relationship Type="http://schemas.openxmlformats.org/officeDocument/2006/relationships/slide" Target="/ppt/slides/slide9.xml" Id="Rdfcd62ac14a44218" /><Relationship Type="http://schemas.openxmlformats.org/officeDocument/2006/relationships/slide" Target="/ppt/slides/slide10.xml" Id="R6167912c1f844638" /><Relationship Type="http://schemas.openxmlformats.org/officeDocument/2006/relationships/slide" Target="/ppt/slides/slide11.xml" Id="R798b9f9674cc4a9c" /><Relationship Type="http://schemas.openxmlformats.org/officeDocument/2006/relationships/slide" Target="/ppt/slides/slide12.xml" Id="Rd8c04a3a8db1499e" /><Relationship Type="http://schemas.openxmlformats.org/officeDocument/2006/relationships/slide" Target="/ppt/slides/slide13.xml" Id="R50075c66a41e46dc" /><Relationship Type="http://schemas.openxmlformats.org/officeDocument/2006/relationships/slide" Target="/ppt/slides/slide14.xml" Id="R84a80c8cbcce4845" /><Relationship Type="http://schemas.openxmlformats.org/officeDocument/2006/relationships/slide" Target="/ppt/slides/slide15.xml" Id="Rb64a9e684cf44a30" /><Relationship Type="http://schemas.openxmlformats.org/officeDocument/2006/relationships/slide" Target="/ppt/slides/slide16.xml" Id="Re6bff497563b43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0c6b6fdf6049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9a7bcb41954b14" /><Relationship Type="http://schemas.openxmlformats.org/officeDocument/2006/relationships/notesMaster" Target="/ppt/notesMasters/notesMaster1.xml" Id="R5cf0e285aa5d40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54925c8089455b" /><Relationship Type="http://schemas.openxmlformats.org/officeDocument/2006/relationships/notesMaster" Target="/ppt/notesMasters/notesMaster1.xml" Id="Rcca966b0cf0e40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4b0e897a2842c5" /><Relationship Type="http://schemas.openxmlformats.org/officeDocument/2006/relationships/notesMaster" Target="/ppt/notesMasters/notesMaster1.xml" Id="Rcdba2c292f024a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33b6c1d0b2400b" /><Relationship Type="http://schemas.openxmlformats.org/officeDocument/2006/relationships/notesMaster" Target="/ppt/notesMasters/notesMaster1.xml" Id="R8a78e5f299714f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c862c2ba7848df" /><Relationship Type="http://schemas.openxmlformats.org/officeDocument/2006/relationships/notesMaster" Target="/ppt/notesMasters/notesMaster1.xml" Id="R40219b422c654d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17598b940446e9" /><Relationship Type="http://schemas.openxmlformats.org/officeDocument/2006/relationships/notesMaster" Target="/ppt/notesMasters/notesMaster1.xml" Id="R2ea98fc2cbbd40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8451a46c404e29" /><Relationship Type="http://schemas.openxmlformats.org/officeDocument/2006/relationships/notesMaster" Target="/ppt/notesMasters/notesMaster1.xml" Id="R75825bb5c8db48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5d293da57647fa" /><Relationship Type="http://schemas.openxmlformats.org/officeDocument/2006/relationships/notesMaster" Target="/ppt/notesMasters/notesMaster1.xml" Id="R4f4ed63675e647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7ce7e01bc44173" /><Relationship Type="http://schemas.openxmlformats.org/officeDocument/2006/relationships/notesMaster" Target="/ppt/notesMasters/notesMaster1.xml" Id="R8d9ac3ce80cb48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a77ddd6fa24d55" /><Relationship Type="http://schemas.openxmlformats.org/officeDocument/2006/relationships/notesMaster" Target="/ppt/notesMasters/notesMaster1.xml" Id="Rb6e8d152381a43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a4e797417443cf" /><Relationship Type="http://schemas.openxmlformats.org/officeDocument/2006/relationships/notesMaster" Target="/ppt/notesMasters/notesMaster1.xml" Id="R91a0670680dc45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22ccf87cd04fd4" /><Relationship Type="http://schemas.openxmlformats.org/officeDocument/2006/relationships/notesMaster" Target="/ppt/notesMasters/notesMaster1.xml" Id="R32424aac83a441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5de47c24b7f4b8c" /><Relationship Type="http://schemas.openxmlformats.org/officeDocument/2006/relationships/notesMaster" Target="/ppt/notesMasters/notesMaster1.xml" Id="R646cdfac9182472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2d33dcdb73142ea" /><Relationship Type="http://schemas.openxmlformats.org/officeDocument/2006/relationships/notesMaster" Target="/ppt/notesMasters/notesMaster1.xml" Id="R0bfa1b6a3983415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d5446c2803459e" /><Relationship Type="http://schemas.openxmlformats.org/officeDocument/2006/relationships/notesMaster" Target="/ppt/notesMasters/notesMaster1.xml" Id="Rf4bd3a69f57f4c0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b8fc5d1300a4717" /><Relationship Type="http://schemas.openxmlformats.org/officeDocument/2006/relationships/notesMaster" Target="/ppt/notesMasters/notesMaster1.xml" Id="R8833a7c9ae0b46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реализации: /home/dima/openegiz-mine/mine/sim/model.py, /home/dima/openegiz-mine/mine/web/pit.js. Скриншоты собственного стенда, 14–15 октября 2026 года. Это демонстрационная модель вымышленного предприятия.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реализации: /home/dima/openegiz-mine/mine/sim/production.py, /home/dima/openegiz-mine/mine/sim/chain.py, /home/dima/openegiz-mine/mine/sim/transport.py. Скриншоты собственного стенда, 14–15 октября 2026 года. Это демонстрационная модель вымышленного предприятия.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реализации: /home/dima/openegiz-mine/mine/sim/twins.py, /home/dima/openegiz-mine/mine/sim/assets.py, /home/dima/openegiz-mine/mine/sim/shifts.py, /home/dima/openegiz-mine/mine/web/plan-sites.js. Скриншоты собственного стенда, 14–15 октября 2026 года. Это демонстрационная модель вымышленного предприятия. 15.10.2026 запрос Ditto count вернул 701. Последняя проверка переноса сохранения сохранила 468 записей реестра и 130 сотрудников. Активы включают GPS-метки, сооружения и оборудование, а не только машины.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реализации: /home/dima/openegiz-mine/mine/sim/main.py, /home/dima/openegiz-mine/mine/sim/telemetry.py, /home/dima/openegiz-mine/mine/web/store.js, /home/dima/openegiz-mine/mine/web/nginx.conf.template, /home/dima/openegiz-mine/mine/grafana/kentash.json. Скриншоты собственного стенда, 14–15 октября 2026 года. Это демонстрационная модель вымышленного предприятия.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реализации: /home/dima/openegiz-mine/mine/sim/quality.py, /home/dima/openegiz-mine/mine/sim/stockpile.py, /home/dima/openegiz-mine/mine/sim/grinding.py, /home/dima/openegiz-mine/mine/sim/flotation.py. Скриншоты собственного стенда, 14–15 октября 2026 года. Это демонстрационная модель вымышленного предприятия.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реализации: /home/dima/openegiz-mine/mine/sim/transport.py, /home/dima/openegiz-mine/mine/sim/model.py, /home/dima/openegiz-mine/mine/web/rom-loader-cycle.js, /home/dima/openegiz-mine/mine/web/truck-dashboard.js. Скриншоты собственного стенда, 14–15 октября 2026 года. Это демонстрационная модель вымышленного предприятия.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реализации: /home/dima/openegiz-mine/mine/sim/crushing.py, /home/dima/openegiz-mine/mine/sim/grinding.py, /home/dima/openegiz-mine/mine/sim/flotation.py, /home/dima/openegiz-mine/mine/sim/equipment.py. Скриншоты собственного стенда, 14–15 октября 2026 года. Это демонстрационная модель вымышленного предприятия.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реализации: /home/dima/openegiz-mine/mine/sim/concentrate_quality.py, /home/dima/openegiz-mine/mine/sim/thickening.py, /home/dima/openegiz-mine/mine/web/concentrate-train.js. Скриншоты собственного стенда, 14–15 октября 2026 года. Это демонстрационная модель вымышленного предприятия.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реализации: /home/dima/openegiz-mine/mine/sim/dewatering.py, /home/dima/openegiz-mine/mine/sim/energy.py, /home/dima/openegiz-mine/mine/sim/sump.py, /home/dima/openegiz-mine/mine/sim/chain.py. Скриншоты собственного стенда, 14–15 октября 2026 года. Это демонстрационная модель вымышленного предприятия.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реализации: /home/dima/openegiz-mine/mine/sim/maintenance.py, /home/dima/openegiz-mine/mine/sim/repair_management.py, /home/dima/openegiz-mine/mine/sim/workforce.py, /home/dima/openegiz-mine/mine/sim/reliability.py. Скриншоты собственного стенда, 14–15 октября 2026 года. Это демонстрационная модель вымышленного предприятия.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реализации: /home/dima/openegiz-mine/mine/sim/shifts.py, /home/dima/openegiz-mine/mine/sim/personnel.py, /home/dima/openegiz-mine/mine/sim/safety.py, /home/dima/openegiz-mine/mine/sim/workforce.py. Скриншоты собственного стенда, 14–15 октября 2026 года. Это демонстрационная модель вымышленного предприятия.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реализации: /home/dima/openegiz-mine/mine/sim/economy.py, /home/dima/openegiz-mine/mine/sim/production.py, /home/dima/openegiz-mine/mine/sim/fuel_traffic.py, /home/dima/openegiz-mine/mine/sim/facilities.py. Скриншоты собственного стенда, 14–15 октября 2026 года. Это демонстрационная модель вымышленного предприятия.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реализации: /home/dima/openegiz-mine/mine/sim/scenarios.py, /home/dima/openegiz-mine/mine/sim/incidents.py, /home/dima/openegiz-mine/mine/sim/safety.py, /home/dima/openegiz-mine/mine/sim/chain.py. Скриншоты собственного стенда, 14–15 октября 2026 года. Это демонстрационная модель вымышленного предприятия.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реализации: /home/dima/openegiz-mine/DATA_LICENSES.md, /home/dima/openegiz-mine/mine/sim/geology.py, /home/dima/openegiz-mine/mine/sim/fragmentation.py, /home/dima/openegiz-mine/mine/sim/equipment.py. Скриншоты собственного стенда, 14–15 октября 2026 года. Это демонстрационная модель вымышленного предприятия. Данные: https://doi.org/10.5281/zenodo.7051975 ; https://doi.org/10.5281/zenodo.10666378 ; https://doi.org/10.5281/zenodo.10358374 ; https://doi.org/10.5281/zenodo.20647907 ; https://github.com/370025263/openmines . Лицензии и преобразования перечислены в DATA_LICENSES.md.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реализации: /home/dima/openegiz-mine/mine/sim/checkpoint.py, /home/dima/openegiz-mine/mine/sim/resume.py, /home/dima/openegiz-mine/mine/sim/telemetry.py, /home/dima/openegiz-mine/mine/tests/test_repair_quality_fuel.py, /home/dima/openegiz-mine/mine/tests/test_checkpoint.py, /home/dima/openegiz-mine/mine/tests/test_reliability.py. Скриншоты собственного стенда, 14–15 октября 2026 года. Это демонстрационная модель вымышленного предприятия. Последняя целевая команда: python -m unittest test_repair_quality_fuel test_checkpoint.Checkpoint.test_exact_continuation_including_random_and_cyclic_references test_reliability.Reliability.test_resources_consumed_once_and_only_work_counts. 26 тестов прошли. Это ограниченный набор, не полный прогон.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реализации: /home/dima/openegiz-mine/README.md, /home/dima/openegiz-mine/Makefile, /home/dima/openegiz-mine/mine/web/navigation.js, /home/dima/openegiz-mine/mine/web/windows.js. Скриншоты собственного стенда, 14–15 октября 2026 года. Это демонстрационная модель вымышленного предприятия. Инструкция запуска: sudo apt-get update &amp;&amp; sudo apt-get install -y make; make mine из корня репозитория с Docker Engine и Compose. Это существующий путь запуска, а не подтверждение свежей проверки в окружении судьи.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8666bae44b4f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fba1ff955744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2cdd34ec1f409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67a2f83698413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dc6213573246e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6bfe97a07b42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295DDF-7E69-4C2F-9455-D20087B051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6FF944F-2DFD-42D0-9720-DFD95C2CED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1584D46-846E-4CF7-B61E-4DA42B9E9A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23BDEA-DBCE-4C64-BE5E-CD87EA0C8B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045BB2D-C543-449C-89EC-7C9CC36427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FA4D05-A625-4CE1-B245-F5E56F7D8A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2FFE57-2076-4527-A8EA-6204E69A32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E2B3E61-B011-4700-B613-ABC4C204C2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D3AB5C-E99F-4C26-B97D-7EE16E129A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42EEF7-08FE-4E5B-85C9-C59B4023C9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5be630b1b04043" /><Relationship Type="http://schemas.openxmlformats.org/officeDocument/2006/relationships/slideLayout" Target="/ppt/slideLayouts/slideLayout1.xml" Id="Rc753a74fca774391" /><Relationship Type="http://schemas.openxmlformats.org/officeDocument/2006/relationships/slideLayout" Target="/ppt/slideLayouts/slideLayout2.xml" Id="R5a2db9876b774a6f" /><Relationship Type="http://schemas.openxmlformats.org/officeDocument/2006/relationships/slideLayout" Target="/ppt/slideLayouts/slideLayout3.xml" Id="R9403c9e7a2954581" /><Relationship Type="http://schemas.openxmlformats.org/officeDocument/2006/relationships/slideLayout" Target="/ppt/slideLayouts/slideLayout4.xml" Id="R2b93d8f58cf84b43" /><Relationship Type="http://schemas.openxmlformats.org/officeDocument/2006/relationships/slideLayout" Target="/ppt/slideLayouts/slideLayout5.xml" Id="R7253296d0f41407a" /><Relationship Type="http://schemas.openxmlformats.org/officeDocument/2006/relationships/slideLayout" Target="/ppt/slideLayouts/slideLayout6.xml" Id="Rf4c542bf3fce4b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53a74fca774391"/>
    <p:sldLayoutId xmlns:r="http://schemas.openxmlformats.org/officeDocument/2006/relationships" id="2147483650" r:id="R5a2db9876b774a6f"/>
    <p:sldLayoutId xmlns:r="http://schemas.openxmlformats.org/officeDocument/2006/relationships" id="2147483651" r:id="R9403c9e7a2954581"/>
    <p:sldLayoutId xmlns:r="http://schemas.openxmlformats.org/officeDocument/2006/relationships" id="2147483652" r:id="R2b93d8f58cf84b43"/>
    <p:sldLayoutId xmlns:r="http://schemas.openxmlformats.org/officeDocument/2006/relationships" id="2147483653" r:id="R7253296d0f41407a"/>
    <p:sldLayoutId xmlns:r="http://schemas.openxmlformats.org/officeDocument/2006/relationships" id="2147483654" r:id="Rf4c542bf3fce4b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d9f541006d40e4" /><Relationship Type="http://schemas.openxmlformats.org/officeDocument/2006/relationships/image" Target="/ppt/media/image.png" Id="R67b0eecdc5db43c3" /><Relationship Type="http://schemas.openxmlformats.org/officeDocument/2006/relationships/notesSlide" Target="/ppt/notesSlides/notesSlide1.xml" Id="R7aa778f79ed141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5c897414524aa6" /><Relationship Type="http://schemas.openxmlformats.org/officeDocument/2006/relationships/notesSlide" Target="/ppt/notesSlides/notesSlide2.xml" Id="Rf3cd160f12bc40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5345a2b30f4c5d" /><Relationship Type="http://schemas.openxmlformats.org/officeDocument/2006/relationships/image" Target="/ppt/media/image2.png" Id="Reaed14a5914546f9" /><Relationship Type="http://schemas.openxmlformats.org/officeDocument/2006/relationships/notesSlide" Target="/ppt/notesSlides/notesSlide3.xml" Id="R2b6f861a7e104d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b56053c955470d" /><Relationship Type="http://schemas.openxmlformats.org/officeDocument/2006/relationships/notesSlide" Target="/ppt/notesSlides/notesSlide4.xml" Id="R6bc178f1379a44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2257fb1bb64abc" /><Relationship Type="http://schemas.openxmlformats.org/officeDocument/2006/relationships/image" Target="/ppt/media/image3.png" Id="Rd6d182e7621e479d" /><Relationship Type="http://schemas.openxmlformats.org/officeDocument/2006/relationships/notesSlide" Target="/ppt/notesSlides/notesSlide5.xml" Id="R490dfa877d8649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9e33689d774b25" /><Relationship Type="http://schemas.openxmlformats.org/officeDocument/2006/relationships/image" Target="/ppt/media/image4.png" Id="R0ef50df4326f4eb6" /><Relationship Type="http://schemas.openxmlformats.org/officeDocument/2006/relationships/notesSlide" Target="/ppt/notesSlides/notesSlide6.xml" Id="Re9728a1d80604a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d9c473c1e74a48" /><Relationship Type="http://schemas.openxmlformats.org/officeDocument/2006/relationships/image" Target="/ppt/media/image5.png" Id="R8b501a0a371e4dd9" /><Relationship Type="http://schemas.openxmlformats.org/officeDocument/2006/relationships/notesSlide" Target="/ppt/notesSlides/notesSlide7.xml" Id="R77a48e8f75cf44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6409204c594dd8" /><Relationship Type="http://schemas.openxmlformats.org/officeDocument/2006/relationships/image" Target="/ppt/media/image6.png" Id="R6d022cc5302f4be6" /><Relationship Type="http://schemas.openxmlformats.org/officeDocument/2006/relationships/notesSlide" Target="/ppt/notesSlides/notesSlide8.xml" Id="R987d37fb6d0746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307609dc51472b" /><Relationship Type="http://schemas.openxmlformats.org/officeDocument/2006/relationships/image" Target="/ppt/media/image7.png" Id="R38d2279a9c8a4a39" /><Relationship Type="http://schemas.openxmlformats.org/officeDocument/2006/relationships/notesSlide" Target="/ppt/notesSlides/notesSlide9.xml" Id="R06ec669e2ab041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6e18a2c3f24c0f" /><Relationship Type="http://schemas.openxmlformats.org/officeDocument/2006/relationships/image" Target="/ppt/media/image8.png" Id="Rf20d8b828cf64811" /><Relationship Type="http://schemas.openxmlformats.org/officeDocument/2006/relationships/notesSlide" Target="/ppt/notesSlides/notesSlide10.xml" Id="R2d9dc22a1e3b46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b8346b5c9e478f" /><Relationship Type="http://schemas.openxmlformats.org/officeDocument/2006/relationships/notesSlide" Target="/ppt/notesSlides/notesSlide11.xml" Id="Rbc1971528e2d48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1951337510484d" /><Relationship Type="http://schemas.openxmlformats.org/officeDocument/2006/relationships/image" Target="/ppt/media/image9.png" Id="R87a848e9f18041c9" /><Relationship Type="http://schemas.openxmlformats.org/officeDocument/2006/relationships/notesSlide" Target="/ppt/notesSlides/notesSlide12.xml" Id="R00e869fe035649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f65d91020140c7" /><Relationship Type="http://schemas.openxmlformats.org/officeDocument/2006/relationships/notesSlide" Target="/ppt/notesSlides/notesSlide13.xml" Id="Rb0763e82057a492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1fbe38439740d3" /><Relationship Type="http://schemas.openxmlformats.org/officeDocument/2006/relationships/notesSlide" Target="/ppt/notesSlides/notesSlide14.xml" Id="R96b50e190c114a8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15dc2d3da7486c" /><Relationship Type="http://schemas.openxmlformats.org/officeDocument/2006/relationships/notesSlide" Target="/ppt/notesSlides/notesSlide15.xml" Id="R05781902fc914ac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3e568a5c43415a" /><Relationship Type="http://schemas.openxmlformats.org/officeDocument/2006/relationships/notesSlide" Target="/ppt/notesSlides/notesSlide16.xml" Id="Rf4a863ee69dc4f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B2BD7-1035-4D29-BAD9-CF8B3202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DF1F4"/>
                </a:solidFill>
                <a:latin typeface="Arial"/>
                <a:ea typeface="Arial"/>
                <a:cs typeface="Arial"/>
              </a:rPr>
              <a:t>Цифровой рудник «Кенташ»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D809B-2721-4FA2-A34A-10E7DDE5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F28A0-B8B7-40F6-8642-A752217D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OpenEgiz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B524B-7E36-41DC-866A-D1F996B7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Модель медного карьера</a:t>
            </a:r>
          </a:p>
          <a:p xmlns:a="http://schemas.openxmlformats.org/drawingml/2006/main">
            <a:pPr>
              <a:defRPr sz="2550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и обогатительной фабрики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691E0-F1B8-45E7-A76F-380FD0D8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9575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Диспетчеризация и последствия</a:t>
            </a:r>
          </a:p>
          <a:p xmlns:a="http://schemas.openxmlformats.org/drawingml/2006/main">
            <a:pPr>
              <a:defRPr sz="195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производственных решений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AADD9-BDDC-4EA0-9CA8-0996A6C4BF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0eecdc5db43c3"/>
          <a:stretch xmlns:a="http://schemas.openxmlformats.org/drawingml/2006/main"/>
        </p:blipFill>
        <p:spPr>
          <a:xfrm xmlns:a="http://schemas.openxmlformats.org/drawingml/2006/main">
            <a:off x="4953000" y="1619250"/>
            <a:ext cx="6667500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529A4-A527-43F1-9DEE-C6813D7F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6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Конкурсная версия / 15 октября 2026 года</a:t>
            </a:r>
          </a:p>
        </p:txBody>
      </p:sp>
    </p:spTree>
    <p:extLst>
      <p:ext uri="{BB962C8B-B14F-4D97-AF65-F5344CB8AC3E}">
        <p14:creationId xmlns:p14="http://schemas.microsoft.com/office/powerpoint/2010/main" val="18300032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D7126-51F2-4948-8CD3-C797843D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DF1F4"/>
                </a:solidFill>
                <a:latin typeface="Arial"/>
                <a:ea typeface="Arial"/>
                <a:cs typeface="Arial"/>
              </a:rPr>
              <a:t>Замысел: управление связанной цепочкой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6CDC0-D9DC-490C-8382-156B1DB3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03C2E-150E-4C66-9C18-AA09F50E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Как поддерживать выпуск концентрата,</a:t>
            </a:r>
          </a:p>
          <a:p xmlns:a="http://schemas.openxmlformats.org/drawingml/2006/main">
            <a:pPr>
              <a:defRPr sz="270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когда один из участков ограничивает производство?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C9A2B-7A14-4B42-822F-33BC623C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309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Пользователь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72C25-E3F5-437C-AE16-7CC14204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43300"/>
            <a:ext cx="3095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Диспетчер рудника и руководитель смены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DC4CE-FE2F-400E-BC2B-32FBD0AA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4325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E7C63-B4F3-4A8F-B84C-81D0CC88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54330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Выбор маршрутов, питания фабрики и очередности восстановления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DC782-F5B8-4DF3-BCDB-14D20096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Результат модели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C6154-534E-414C-B8E3-23785B6B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4330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План/факт выпуска, качество, простои и экономика периода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E1734-90E7-4671-A734-70A7DB34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6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Объект вымышленный. Состав соответствует открытому медному карьеру с флотационной фабрикой.</a:t>
            </a:r>
          </a:p>
        </p:txBody>
      </p:sp>
    </p:spTree>
    <p:extLst>
      <p:ext uri="{BB962C8B-B14F-4D97-AF65-F5344CB8AC3E}">
        <p14:creationId xmlns:p14="http://schemas.microsoft.com/office/powerpoint/2010/main" val="2711865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98B0F-C38C-439E-B5AF-D8ED9B42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DF1F4"/>
                </a:solidFill>
                <a:latin typeface="Arial"/>
                <a:ea typeface="Arial"/>
                <a:cs typeface="Arial"/>
              </a:rPr>
              <a:t>Масштаб и пространство рудника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3FB27-A755-4C29-8CB6-F6E80223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EB441-46B7-4E31-88C3-1674F970C5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d14a5914546f9"/>
          <a:stretch xmlns:a="http://schemas.openxmlformats.org/drawingml/2006/main"/>
        </p:blipFill>
        <p:spPr>
          <a:xfrm xmlns:a="http://schemas.openxmlformats.org/drawingml/2006/main">
            <a:off x="574139" y="1524000"/>
            <a:ext cx="7805223" cy="4143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2A70C-BAB0-4CC7-B0DE-05F4F986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35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701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BB468-23F1-43C1-8251-501E412C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050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двойник Ditto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F6BFB-0CDA-4FB4-A3D1-EB267760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0375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35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468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3F354-7A61-4BB4-B576-EDBE6B23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8617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активов, включая GPS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46253-520B-4FE6-9929-2C662358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0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35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130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E6CF4-7F10-4020-AD04-2F67234F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673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сотрудников двух смен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220EC-7418-4B1B-A6DB-593F56A6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6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Генплан связывает добычу, фабрику, отвал, хвостохранилище и обеспечивающие объекты.</a:t>
            </a:r>
          </a:p>
        </p:txBody>
      </p:sp>
    </p:spTree>
    <p:extLst>
      <p:ext uri="{BB962C8B-B14F-4D97-AF65-F5344CB8AC3E}">
        <p14:creationId xmlns:p14="http://schemas.microsoft.com/office/powerpoint/2010/main" val="17646648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54A6AE-D285-4402-949E-DA4E0BDD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DF1F4"/>
                </a:solidFill>
                <a:latin typeface="Arial"/>
                <a:ea typeface="Arial"/>
                <a:cs typeface="Arial"/>
              </a:rPr>
              <a:t>Архитектура на OpenEgiz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271F8-3A32-4048-964B-59F51629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E6790-E879-4050-8D35-A7D86C9B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D345E-7AC1-401A-A325-B4BCB836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56210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F1F4"/>
                </a:solidFill>
                <a:latin typeface="Arial"/>
                <a:ea typeface="Arial"/>
                <a:cs typeface="Arial"/>
              </a:rPr>
              <a:t>Симулятор рудника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FCBC3-A297-4830-A277-BFF2E75D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62100"/>
            <a:ext cx="657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Считает связанные процессы и публикует телеметрию через MQTT.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3FEB1-F1ED-4DED-B4CD-74261AA6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B1753-0A02-4DF3-836B-C7BFE202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38425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F1F4"/>
                </a:solidFill>
                <a:latin typeface="Arial"/>
                <a:ea typeface="Arial"/>
                <a:cs typeface="Arial"/>
              </a:rPr>
              <a:t>Eclipse Ditto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35F36-A967-468B-8014-1E5C37F6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38425"/>
            <a:ext cx="657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Хранит двойники: паспорта, иерархию, связи и текущие показатели.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A30AB-16EF-433F-9731-0001B178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A8695-943B-4F9A-9F60-1CAB97CE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147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F1F4"/>
                </a:solidFill>
                <a:latin typeface="Arial"/>
                <a:ea typeface="Arial"/>
                <a:cs typeface="Arial"/>
              </a:rPr>
              <a:t>Стенд в браузере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82036-B5DC-4390-8D37-08F046BE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14750"/>
            <a:ext cx="657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Получает состояние и поток событий Ditto. Команды записывает в control.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AFF030-14F9-4B9B-98D6-4E323B44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910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04901F-7E05-41B1-8804-3D63ED70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91075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F1F4"/>
                </a:solidFill>
                <a:latin typeface="Arial"/>
                <a:ea typeface="Arial"/>
                <a:cs typeface="Arial"/>
              </a:rPr>
              <a:t>История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B7E619-B65C-4345-BAAA-EFA96D42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91075"/>
            <a:ext cx="657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Telegraf передаёт данные в InfluxDB. Grafana показывает временные ряды.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D4F137-82AF-48A2-A5CF-07D64321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6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Прикладная модель работает сервисом Docker Compose внутри стека платформы.</a:t>
            </a:r>
          </a:p>
        </p:txBody>
      </p:sp>
    </p:spTree>
    <p:extLst>
      <p:ext uri="{BB962C8B-B14F-4D97-AF65-F5344CB8AC3E}">
        <p14:creationId xmlns:p14="http://schemas.microsoft.com/office/powerpoint/2010/main" val="19596969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E01CD-5C1B-4CFB-8C82-00D14C22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DF1F4"/>
                </a:solidFill>
                <a:latin typeface="Arial"/>
                <a:ea typeface="Arial"/>
                <a:cs typeface="Arial"/>
              </a:rPr>
              <a:t>Руда и её свойства проходят всю цепочку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14BCE-899C-410F-9CA7-30608E71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15A02-A220-4914-822A-C57AF20528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182e7621e479d"/>
          <a:stretch xmlns:a="http://schemas.openxmlformats.org/drawingml/2006/main"/>
        </p:blipFill>
        <p:spPr>
          <a:xfrm xmlns:a="http://schemas.openxmlformats.org/drawingml/2006/main">
            <a:off x="5238750" y="1619250"/>
            <a:ext cx="6381750" cy="3333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A6E49-CC59-459A-9B54-C5FACF2A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Карьер и склады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64824-5E2D-4A45-B4C3-EE8AF8EB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71675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Ковши, кузова и партии сохраняют массу, Cu, крепость и крупность.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4D363-63E5-4FA6-A978-E8DAA23E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Усреднение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F5F9B8-ACC2-4F91-B1A3-7D434ADE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4330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Погрузчик подбирает смесь доступных партий под цель питания.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8AB46-1235-4996-BA5C-97C90D1A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B44B"/>
                </a:solidFill>
                <a:latin typeface="Arial"/>
                <a:ea typeface="Arial"/>
                <a:cs typeface="Arial"/>
              </a:rPr>
              <a:t>Крепость влияет на измельчение.</a:t>
            </a:r>
          </a:p>
          <a:p xmlns:a="http://schemas.openxmlformats.org/drawingml/2006/main">
            <a:pPr>
              <a:defRPr sz="2100" b="0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B44B"/>
                </a:solidFill>
                <a:latin typeface="Arial"/>
                <a:ea typeface="Arial"/>
                <a:cs typeface="Arial"/>
              </a:rPr>
              <a:t>Cu и помол влияют на извлечение.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8B7578-CB3C-42BB-B8C8-EDFA4E92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6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Медь учитывается в продукте и хвостах. Начальные неизвестные свойства заданы модельными оценками.</a:t>
            </a:r>
          </a:p>
        </p:txBody>
      </p:sp>
    </p:spTree>
    <p:extLst>
      <p:ext uri="{BB962C8B-B14F-4D97-AF65-F5344CB8AC3E}">
        <p14:creationId xmlns:p14="http://schemas.microsoft.com/office/powerpoint/2010/main" val="3551262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5678B-59A4-43C8-A330-CCF9363B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DF1F4"/>
                </a:solidFill>
                <a:latin typeface="Arial"/>
                <a:ea typeface="Arial"/>
                <a:cs typeface="Arial"/>
              </a:rPr>
              <a:t>Транспорт и работа перегрузочного склада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5472C-AEEC-4E9E-B1CC-AD72FD31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97C24-E84B-4E5D-A3EF-94D043A4FB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50df4326f4eb6"/>
          <a:stretch xmlns:a="http://schemas.openxmlformats.org/drawingml/2006/main"/>
        </p:blipFill>
        <p:spPr>
          <a:xfrm xmlns:a="http://schemas.openxmlformats.org/drawingml/2006/main">
            <a:off x="4762500" y="1619250"/>
            <a:ext cx="6858000" cy="3333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2AD40-1A84-4819-BAEC-7CDC92F4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Рейс самосвала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ACC40-1D9A-4290-841C-FD58EE5C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71675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Погрузка, маршрут, очередь, разгрузка и порожний возврат.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7B8FA-92CB-4084-948A-11649B25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Реальные ограничения модели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8FF2D-DE22-42EE-A9A3-520B7EE5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4330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Уклон, груз, разгон, торможение, дорога, топливо и доступность поста.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A93A0A-6419-444D-8E21-D4C38305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B44B"/>
                </a:solidFill>
                <a:latin typeface="Arial"/>
                <a:ea typeface="Arial"/>
                <a:cs typeface="Arial"/>
              </a:rPr>
              <a:t>Погрузчик загружает самосвал ковшами.</a:t>
            </a:r>
          </a:p>
          <a:p xmlns:a="http://schemas.openxmlformats.org/drawingml/2006/main">
            <a:pPr>
              <a:defRPr sz="2100" b="0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B44B"/>
                </a:solidFill>
                <a:latin typeface="Arial"/>
                <a:ea typeface="Arial"/>
                <a:cs typeface="Arial"/>
              </a:rPr>
              <a:t>Диспетчер учитывает грузы в пути.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1A4E5C-533F-47E6-B207-F7F94767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6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Водительская панель и разбор устройства самосвала доступны из карточки машины.</a:t>
            </a:r>
          </a:p>
        </p:txBody>
      </p:sp>
    </p:spTree>
    <p:extLst>
      <p:ext uri="{BB962C8B-B14F-4D97-AF65-F5344CB8AC3E}">
        <p14:creationId xmlns:p14="http://schemas.microsoft.com/office/powerpoint/2010/main" val="18624604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32828-ADA4-49B5-9D65-1D4BC839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DF1F4"/>
                </a:solidFill>
                <a:latin typeface="Arial"/>
                <a:ea typeface="Arial"/>
                <a:cs typeface="Arial"/>
              </a:rPr>
              <a:t>Фабрика: питание, помол и извлечение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EBCBF-8A2E-4C99-9E5A-65EC7794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64F77B-5413-4F3F-88C1-881BBF143A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01a0a371e4dd9"/>
          <a:stretch xmlns:a="http://schemas.openxmlformats.org/drawingml/2006/main"/>
        </p:blipFill>
        <p:spPr>
          <a:xfrm xmlns:a="http://schemas.openxmlformats.org/drawingml/2006/main">
            <a:off x="574127" y="1571625"/>
            <a:ext cx="7233747" cy="3857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B87DC-773E-4671-8B13-600209AC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Дробление и измельчение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85EDD-0569-4F02-BC18-BC87C178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1930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Крупность и крепость ограничивают производительность и мощность.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6544E-0B15-47D7-8C79-EB12BFC0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7662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Флотация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5F91AA-291C-4782-85B8-7467F970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76675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Помол, реагенты, воздух и доступные камеры меняют извлечение.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DC518-82FD-4E27-9423-ED41392F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6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Отдельные приводы, насосы и камеры участвуют в доступности установок и ТОиР.</a:t>
            </a:r>
          </a:p>
        </p:txBody>
      </p:sp>
    </p:spTree>
    <p:extLst>
      <p:ext uri="{BB962C8B-B14F-4D97-AF65-F5344CB8AC3E}">
        <p14:creationId xmlns:p14="http://schemas.microsoft.com/office/powerpoint/2010/main" val="16063173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6811E-38C0-492A-AC25-C9869081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DF1F4"/>
                </a:solidFill>
                <a:latin typeface="Arial"/>
                <a:ea typeface="Arial"/>
                <a:cs typeface="Arial"/>
              </a:rPr>
              <a:t>Концентрат: качество до отправления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0B2A9-5C49-475D-9E03-0F9A6379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83605-B716-45A0-A2E6-62B17B43CC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22cc5302f4be6"/>
          <a:stretch xmlns:a="http://schemas.openxmlformats.org/drawingml/2006/main"/>
        </p:blipFill>
        <p:spPr>
          <a:xfrm xmlns:a="http://schemas.openxmlformats.org/drawingml/2006/main">
            <a:off x="4762500" y="1619250"/>
            <a:ext cx="6858000" cy="3333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B1437-6143-4314-BB97-5B6426D8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Партии продукта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71DF5-2408-4914-AFD2-C84D0EF2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71675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Сгущение и фильтрация. Учёт сухой массы, меди и воды.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123DF-F202-4E21-AD67-B4AE69AA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Разрешение погрузки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87F09-6608-43A3-8032-71749D03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4330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Проверка Cu, влажности и готовности расчётного анализа партии.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DF83D7-80CE-4CDC-AE74-368DE215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B44B"/>
                </a:solidFill>
                <a:latin typeface="Arial"/>
                <a:ea typeface="Arial"/>
                <a:cs typeface="Arial"/>
              </a:rPr>
              <a:t>Состав загружается и уезжает.</a:t>
            </a:r>
          </a:p>
          <a:p xmlns:a="http://schemas.openxmlformats.org/drawingml/2006/main">
            <a:pPr>
              <a:defRPr sz="2100" b="0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B44B"/>
                </a:solidFill>
                <a:latin typeface="Arial"/>
                <a:ea typeface="Arial"/>
                <a:cs typeface="Arial"/>
              </a:rPr>
              <a:t>Отправление получает паспорт партии.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5535D-03B3-4378-A88D-FDB8FD9B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6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Анализы модельные. Примеси и транспортный предел влажности TML не рассчитываются.</a:t>
            </a:r>
          </a:p>
        </p:txBody>
      </p:sp>
    </p:spTree>
    <p:extLst>
      <p:ext uri="{BB962C8B-B14F-4D97-AF65-F5344CB8AC3E}">
        <p14:creationId xmlns:p14="http://schemas.microsoft.com/office/powerpoint/2010/main" val="14590696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5EC2F3-0495-4597-9BF8-88675EC1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DF1F4"/>
                </a:solidFill>
                <a:latin typeface="Arial"/>
                <a:ea typeface="Arial"/>
                <a:cs typeface="Arial"/>
              </a:rPr>
              <a:t>Вода и энергия ограничивают производство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01ACB-E20D-4C61-AE62-30C66FE7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D457F-88A2-43CB-A96B-9D579EA242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2279a9c8a4a39"/>
          <a:stretch xmlns:a="http://schemas.openxmlformats.org/drawingml/2006/main"/>
        </p:blipFill>
        <p:spPr>
          <a:xfrm xmlns:a="http://schemas.openxmlformats.org/drawingml/2006/main">
            <a:off x="573692" y="1619250"/>
            <a:ext cx="6186865" cy="3952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DF8EF-1BD2-4E85-B944-F20F6C3E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Водный контур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110F4-E6A8-4916-A797-2C486BA7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1930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Приток, зумпф, водоотлив, технологическая и оборотная вода.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04813B-57EB-444E-93A1-2D131030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Энергетический контур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E47D0-5C7E-44AD-BBC7-9F63ECE9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ГПП, фидеры и потребители. Отказ питания ограничивает работу цепочки.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E73BA-2554-4B21-B71B-1D8D2538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6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Пуск после восстановления зависит от готовности оборудования и технологических условий.</a:t>
            </a:r>
          </a:p>
        </p:txBody>
      </p:sp>
    </p:spTree>
    <p:extLst>
      <p:ext uri="{BB962C8B-B14F-4D97-AF65-F5344CB8AC3E}">
        <p14:creationId xmlns:p14="http://schemas.microsoft.com/office/powerpoint/2010/main" val="7818448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77E00-FF65-4772-A0F2-A2BB8AC5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DF1F4"/>
                </a:solidFill>
                <a:latin typeface="Arial"/>
                <a:ea typeface="Arial"/>
                <a:cs typeface="Arial"/>
              </a:rPr>
              <a:t>ТОиР: от отказа до возврата в работу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3D5AC-0576-4A77-8C42-02B69D9E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922D5-3FA0-42A2-9AF8-0711C929C1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d8b828cf64811"/>
          <a:stretch xmlns:a="http://schemas.openxmlformats.org/drawingml/2006/main"/>
        </p:blipFill>
        <p:spPr>
          <a:xfrm xmlns:a="http://schemas.openxmlformats.org/drawingml/2006/main">
            <a:off x="4762500" y="1619250"/>
            <a:ext cx="6858000" cy="3333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7AC71-BAFE-4CB1-9DEC-2BCB7DD8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Наряд и приоритет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CEA4F-EE2B-4D16-9F02-828475D5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71675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Критичность, состояние, резервирование материалов и ожидание поставки.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D64CC-742F-479A-815E-33DFEB3B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Исполнение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30FD4-3565-4411-9092-E8465887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4330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Дорога, допуск, диагностика, ремонт и приёмка. Работа требует бригаду.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8F620-D5D7-4AA0-B3F0-119AB02A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B44B"/>
                </a:solidFill>
                <a:latin typeface="Arial"/>
                <a:ea typeface="Arial"/>
                <a:cs typeface="Arial"/>
              </a:rPr>
              <a:t>Ремонтируются машины и стационарные узлы.</a:t>
            </a:r>
          </a:p>
          <a:p xmlns:a="http://schemas.openxmlformats.org/drawingml/2006/main">
            <a:pPr>
              <a:defRPr sz="2100" b="0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B44B"/>
                </a:solidFill>
                <a:latin typeface="Arial"/>
                <a:ea typeface="Arial"/>
                <a:cs typeface="Arial"/>
              </a:rPr>
              <a:t>Отмена сценария не устраняет повреждение.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99966-00C7-4A33-98AB-3822358C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6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Диагностика и приёмка входят в трудоёмкость. Запчасти представлены модельными комплектами.</a:t>
            </a:r>
          </a:p>
        </p:txBody>
      </p:sp>
    </p:spTree>
    <p:extLst>
      <p:ext uri="{BB962C8B-B14F-4D97-AF65-F5344CB8AC3E}">
        <p14:creationId xmlns:p14="http://schemas.microsoft.com/office/powerpoint/2010/main" val="7699685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8A440-2190-4437-9007-CAA5AF53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DF1F4"/>
                </a:solidFill>
                <a:latin typeface="Arial"/>
                <a:ea typeface="Arial"/>
                <a:cs typeface="Arial"/>
              </a:rPr>
              <a:t>Персонал, смены и безопасность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FA959-FE4E-4106-A5D3-C87EC516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8BB76-19AF-41B4-8057-56CE7441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45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45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65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7E12F-9000-4A76-AEDB-601B2B77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рабочих постов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851DE-95DD-4B74-A603-4F755033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954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75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DF1F4"/>
                </a:solidFill>
                <a:latin typeface="Arial"/>
                <a:ea typeface="Arial"/>
                <a:cs typeface="Arial"/>
              </a:rPr>
              <a:t>А  08–20</a:t>
            </a:r>
          </a:p>
          <a:p xmlns:a="http://schemas.openxmlformats.org/drawingml/2006/main">
            <a:pPr>
              <a:defRPr sz="3375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DF1F4"/>
                </a:solidFill>
                <a:latin typeface="Arial"/>
                <a:ea typeface="Arial"/>
                <a:cs typeface="Arial"/>
              </a:rPr>
              <a:t>Б  20–08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7A7AF-234B-4F85-B18B-61494B77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10 минут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2B613-CCFE-4228-AE96-8C005822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193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передача ремонтных работ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8F16EA-A879-4D94-9F04-7578F964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Местоположение и задача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0AA88-D8ED-4CCE-ADAF-CEBA5D3B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Отдельный экран показывает сотрудника, участок, работу и наряд.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3B3E8-E1E8-4860-B8D8-DA8641B1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10000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Допуск к работам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D8B94-CA2C-44BD-8C71-33B89F12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0050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Взрыв, газы, борт, вода и хвостопровод ограничивают работу и ремонт.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59476-30B1-470A-82F4-39BC2FC5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6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130 обезличенных сотрудников. Доставка смены укрупнена, пороги безопасности являются настройками модели.</a:t>
            </a:r>
          </a:p>
        </p:txBody>
      </p:sp>
    </p:spTree>
    <p:extLst>
      <p:ext uri="{BB962C8B-B14F-4D97-AF65-F5344CB8AC3E}">
        <p14:creationId xmlns:p14="http://schemas.microsoft.com/office/powerpoint/2010/main" val="3109192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0AADEE-0744-4160-8C89-8BEDA4D1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DF1F4"/>
                </a:solidFill>
                <a:latin typeface="Arial"/>
                <a:ea typeface="Arial"/>
                <a:cs typeface="Arial"/>
              </a:rPr>
              <a:t>Экономика по фактической отгрузке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65CFD-43D4-400C-BD74-61CA4CC2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58AFA-4E56-4B6A-88A3-02E5D9ABB6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848e9f18041c9"/>
          <a:stretch xmlns:a="http://schemas.openxmlformats.org/drawingml/2006/main"/>
        </p:blipFill>
        <p:spPr>
          <a:xfrm xmlns:a="http://schemas.openxmlformats.org/drawingml/2006/main">
            <a:off x="573692" y="1619250"/>
            <a:ext cx="6186865" cy="3952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9206D-0E46-49F6-B39A-321588D9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Затраты периода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44B45-9B16-4FCF-A0B0-BF3D53D1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1930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Фактический дизель, электроэнергия, добыча и питание фабрики. Постоянные расходы продолжаются при простое.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92E12-5D98-47BC-AAAA-27CCF092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6712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Выручка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01DE8-4064-4665-B141-41E30669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Начисляется по меди в отправленном концентрате. Выпуск и склад не равны продаже.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3FB30-86BA-45FE-8770-D376C8D5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6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Цены и тарифы сценарные. Налоги, амортизация и банковский денежный поток не моделируются.</a:t>
            </a:r>
          </a:p>
        </p:txBody>
      </p:sp>
    </p:spTree>
    <p:extLst>
      <p:ext uri="{BB962C8B-B14F-4D97-AF65-F5344CB8AC3E}">
        <p14:creationId xmlns:p14="http://schemas.microsoft.com/office/powerpoint/2010/main" val="13679124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514513-8C9B-438E-A4AE-5926DED6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DF1F4"/>
                </a:solidFill>
                <a:latin typeface="Arial"/>
                <a:ea typeface="Arial"/>
                <a:cs typeface="Arial"/>
              </a:rPr>
              <a:t>Сценарии распространяются по двойникам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56662-CFB6-4B01-9CD2-E54B39D3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A2837-163F-421A-BA95-04DDA322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476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Обесточивание ГПП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1529B-06EB-427A-B457-E9A8891F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71625"/>
            <a:ext cx="685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Остановка потребителей, снижение выпуска, проверка готовности и пуск после возврата питания.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48E28-97BE-46F6-B75A-E9D686E3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3476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Ливень и отказ насосов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A6E99-66CD-46DF-B960-2678E5DD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685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Рост уровня зумпфа, риск подтопления, ограничение забоя и восстановление водоотлива.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DF916-2A56-4EE9-871B-BA70B4F0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24275"/>
            <a:ext cx="3476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Отказ оборудования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1185D-9C06-42B0-8576-55786C65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24275"/>
            <a:ext cx="685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Потеря доступности узла, ремонтный наряд, материалы и бригада, возврат после приёмки.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C65C32-9FC2-47B5-85A4-CE98546F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00600"/>
            <a:ext cx="3476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Срыв поставок топлива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4EC10-E42D-418F-A7FE-9A51B25D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00600"/>
            <a:ext cx="685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Убывание запаса, ограничения заправки и доступности транспорта.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E9BF1D-56B1-43D0-9EFF-F9AC2669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6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Запуск и отмена доступны на экране «Сценарии». Время совпадающих ограничений нельзя складывать.</a:t>
            </a:r>
          </a:p>
        </p:txBody>
      </p:sp>
    </p:spTree>
    <p:extLst>
      <p:ext uri="{BB962C8B-B14F-4D97-AF65-F5344CB8AC3E}">
        <p14:creationId xmlns:p14="http://schemas.microsoft.com/office/powerpoint/2010/main" val="932048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CA07A-9046-4191-B19A-39950D50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DF1F4"/>
                </a:solidFill>
                <a:latin typeface="Arial"/>
                <a:ea typeface="Arial"/>
                <a:cs typeface="Arial"/>
              </a:rPr>
              <a:t>Открытые данные и границы модели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F1EE0-8F53-431A-91E0-B49E04A7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BD890-F821-496E-A8E9-90058EB8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Источники параметров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EAE99-0CEC-4466-BDCF-5E4CF484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519112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GeoMet: состав и перерабатываемость руды</a:t>
            </a:r>
          </a:p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El Aljibe: фрагментация взрыва</a:t>
            </a:r>
          </a:p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MWD: разброс скорости бурения</a:t>
            </a:r>
          </a:p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Профиль ГОК: форма нагрузки</a:t>
            </a:r>
          </a:p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OpenMines: ориентир для транспорта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A4F33-41FB-46EC-AA02-BAD12D0F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Принятые упрощения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9DFF6-316D-4F9C-8A1D-7E4BCDB6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953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Вымышленная геометрия предприятия</a:t>
            </a:r>
          </a:p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Номиналы и регламенты модели</a:t>
            </a:r>
          </a:p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Упрощённые износ и диагностика</a:t>
            </a:r>
          </a:p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Расчётные анализы продукта</a:t>
            </a:r>
          </a:p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Эвристическая диспетчеризация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6DDFB-2A8C-46E1-AF4E-CD280C0B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DB44B"/>
                </a:solidFill>
                <a:latin typeface="Arial"/>
                <a:ea typeface="Arial"/>
                <a:cs typeface="Arial"/>
              </a:rPr>
              <a:t>Код: MIT. Данные сохраняют собственные лицензии.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1EFDC-3895-40FE-B3E5-0C0058B7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6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Источники, преобразования и лицензии: DATA_LICENSES.md. Детальные пояснения находятся в интерфейсе.</a:t>
            </a:r>
          </a:p>
        </p:txBody>
      </p:sp>
    </p:spTree>
    <p:extLst>
      <p:ext uri="{BB962C8B-B14F-4D97-AF65-F5344CB8AC3E}">
        <p14:creationId xmlns:p14="http://schemas.microsoft.com/office/powerpoint/2010/main" val="9451522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52755E-A10B-4C38-ADFB-DA8FCAD4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DF1F4"/>
                </a:solidFill>
                <a:latin typeface="Arial"/>
                <a:ea typeface="Arial"/>
                <a:cs typeface="Arial"/>
              </a:rPr>
              <a:t>Состояние и проверка расчётов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795EB-8F19-4F4A-962F-58F01927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AC20B-D479-422D-A31A-6A03182B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45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45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CD922-7EA8-421D-A967-613FAB05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тестов в последней</a:t>
            </a:r>
          </a:p>
          <a:p xmlns:a="http://schemas.openxmlformats.org/drawingml/2006/main">
            <a:pPr>
              <a:defRPr sz="202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целевой проверке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342E1-5F99-46E3-871A-3FE36CE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571625"/>
            <a:ext cx="700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Что проверено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32DA7-BD71-4002-B71F-64070410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971675"/>
            <a:ext cx="700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Резервы и выдача материалов, ремонт насоса, аварии, качество партий и цикл заправки.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2A4D0-7019-42FD-A483-2B48EF53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38500"/>
            <a:ext cx="700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Точное продолжение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F15A5-8872-4157-BCE0-F83D812A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638550"/>
            <a:ext cx="700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Контрольные точки сохраняют модель, генератор случайных чисел и незавершённые операции.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91B9A-DDD1-4ECF-BF6D-77E3C2D1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DB44B"/>
                </a:solidFill>
                <a:latin typeface="Arial"/>
                <a:ea typeface="Arial"/>
                <a:cs typeface="Arial"/>
              </a:rPr>
              <a:t>Проверки кода не доказывают точность реального рудника.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65CFB1-3A53-4CC8-B855-CDF8FDB2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6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Чистый запуск и производительность без GPU в эталонном окружении судьи требуют отдельной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3513029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B818DA-230B-480F-9996-501828A5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DF1F4"/>
                </a:solidFill>
                <a:latin typeface="Arial"/>
                <a:ea typeface="Arial"/>
                <a:cs typeface="Arial"/>
              </a:rPr>
              <a:t>Демонстрация на стенде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61A9B-2EC3-429A-9AD5-328E8955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B7DF7-EDC1-4F2B-8381-F1173914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http://localhost:8200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AA627-69D6-4D94-8614-9B864049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72904-D66E-448B-AE98-4906ECD8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650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F1F4"/>
                </a:solidFill>
                <a:latin typeface="Arial"/>
                <a:ea typeface="Arial"/>
                <a:cs typeface="Arial"/>
              </a:rPr>
              <a:t>Генплан и карьер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404D1-3FD8-4AAD-81C6-D5D24F4E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76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Пространство, техника и движение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97C37-3F0E-402E-B558-7B037D66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739C1-9182-4670-81C3-D1D2A13B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3850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F1F4"/>
                </a:solidFill>
                <a:latin typeface="Arial"/>
                <a:ea typeface="Arial"/>
                <a:cs typeface="Arial"/>
              </a:rPr>
              <a:t>Производственный план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183F5-9033-4D44-9B8B-6116283F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38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План/факт и текущие ограничения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8C5CB6-5422-4DE7-869E-DF707271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74249-6E83-4140-A849-3A52A043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F1F4"/>
                </a:solidFill>
                <a:latin typeface="Arial"/>
                <a:ea typeface="Arial"/>
                <a:cs typeface="Arial"/>
              </a:rPr>
              <a:t>Сценарии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080329-1009-434F-9A87-25AA68AB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00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Обесточивание ГПП и последствия по цепочке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9A3199-D0C6-41FC-A5BA-1715D13E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EDB44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DB4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7A998-C13B-4907-AC1A-B364D1CC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F1F4"/>
                </a:solidFill>
                <a:latin typeface="Arial"/>
                <a:ea typeface="Arial"/>
                <a:cs typeface="Arial"/>
              </a:rPr>
              <a:t>ТОиР и концентрат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2099A5-5889-4318-8BD8-5AA23800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62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F1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1F4"/>
                </a:solidFill>
                <a:latin typeface="Arial"/>
                <a:ea typeface="Arial"/>
                <a:cs typeface="Arial"/>
              </a:rPr>
              <a:t>Наряд, материалы, качество и отгрузка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928943-338A-418A-9D49-848A8474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6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FBD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BDC7"/>
                </a:solidFill>
                <a:latin typeface="Arial"/>
                <a:ea typeface="Arial"/>
                <a:cs typeface="Arial"/>
              </a:rPr>
              <a:t>Запуск: Ubuntu + Docker Compose, затем make mine из корня проекта. Условия и ограничения описаны в README.</a:t>
            </a:r>
          </a:p>
        </p:txBody>
      </p:sp>
    </p:spTree>
    <p:extLst>
      <p:ext uri="{BB962C8B-B14F-4D97-AF65-F5344CB8AC3E}">
        <p14:creationId xmlns:p14="http://schemas.microsoft.com/office/powerpoint/2010/main" val="13289343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2026-10-15T16:49:34.2570000Z</dcterms:created>
  <dcterms:modified xsi:type="dcterms:W3CDTF">2026-10-15T16:49:34.2570000Z</dcterms:modified>
</coreProperties>
</file>